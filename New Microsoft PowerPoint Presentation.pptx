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72" r:id="rId2"/>
    <p:sldId id="270" r:id="rId3"/>
    <p:sldId id="257" r:id="rId4"/>
    <p:sldId id="258" r:id="rId5"/>
    <p:sldId id="259" r:id="rId6"/>
    <p:sldId id="266" r:id="rId7"/>
    <p:sldId id="268" r:id="rId8"/>
    <p:sldId id="261" r:id="rId9"/>
    <p:sldId id="267" r:id="rId10"/>
    <p:sldId id="260" r:id="rId11"/>
    <p:sldId id="263" r:id="rId12"/>
    <p:sldId id="262" r:id="rId13"/>
    <p:sldId id="264" r:id="rId14"/>
    <p:sldId id="265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904CF8-8E2C-4B46-8BBD-967FBFBF11BF}">
          <p14:sldIdLst>
            <p14:sldId id="272"/>
            <p14:sldId id="270"/>
            <p14:sldId id="257"/>
            <p14:sldId id="258"/>
            <p14:sldId id="259"/>
            <p14:sldId id="266"/>
            <p14:sldId id="268"/>
            <p14:sldId id="261"/>
            <p14:sldId id="267"/>
            <p14:sldId id="260"/>
            <p14:sldId id="263"/>
            <p14:sldId id="262"/>
            <p14:sldId id="264"/>
            <p14:sldId id="265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3" autoAdjust="0"/>
    <p:restoredTop sz="94648" autoAdjust="0"/>
  </p:normalViewPr>
  <p:slideViewPr>
    <p:cSldViewPr>
      <p:cViewPr varScale="1">
        <p:scale>
          <a:sx n="64" d="100"/>
          <a:sy n="64" d="100"/>
        </p:scale>
        <p:origin x="-1300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3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BANK LOAN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3400" y="4953000"/>
            <a:ext cx="4267200" cy="630702"/>
          </a:xfrm>
        </p:spPr>
        <p:txBody>
          <a:bodyPr/>
          <a:lstStyle/>
          <a:p>
            <a:r>
              <a:rPr lang="en-US" dirty="0" smtClean="0"/>
              <a:t>NAME:  ALEEVA DASH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88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2514600" cy="609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DESCRIPTION </a:t>
            </a:r>
            <a:endParaRPr lang="en-IN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991600" cy="3048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order to monitor and assess our bank's lending activities and performance, we need to create a comprehensive Bank Loan Analysis. This analysis aims to provide insights into key loan-related metrics and their changes over time. The analysis will help us make data-driven decisions, track our loan portfolio's health, and identify trends that can inform our lending strategies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17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200" cy="487362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effectLst/>
              </a:rPr>
              <a:t>Key Performance Indicators (KPIs) Requirements</a:t>
            </a:r>
            <a:r>
              <a:rPr lang="en-US" dirty="0">
                <a:effectLst/>
              </a:rPr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7116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sz="1800" b="1" dirty="0"/>
              <a:t>Total Loan Applications:</a:t>
            </a:r>
            <a:r>
              <a:rPr lang="en-US" sz="1800" dirty="0"/>
              <a:t> We need to calculate the total number of loan applications received during a specified period. Additionally, it is essential to monitor the Month-to-Date (MTD) Loan Applications and track changes Month-over-Month (</a:t>
            </a:r>
            <a:r>
              <a:rPr lang="en-US" sz="1800" dirty="0" err="1"/>
              <a:t>MoM</a:t>
            </a:r>
            <a:r>
              <a:rPr lang="en-US" sz="1800" dirty="0"/>
              <a:t>).</a:t>
            </a:r>
          </a:p>
          <a:p>
            <a:pPr fontAlgn="base"/>
            <a:r>
              <a:rPr lang="en-US" sz="1800" b="1" dirty="0"/>
              <a:t>Total Funded Amount:</a:t>
            </a:r>
            <a:r>
              <a:rPr lang="en-US" sz="1800" dirty="0"/>
              <a:t> Understanding the total amount of funds disbursed as loans is crucial. We also want to keep an eye on the MTD Total Funded Amount and </a:t>
            </a:r>
            <a:r>
              <a:rPr lang="en-US" sz="1800" dirty="0" err="1"/>
              <a:t>analyse</a:t>
            </a:r>
            <a:r>
              <a:rPr lang="en-US" sz="1800" dirty="0"/>
              <a:t> the Month-over-Month (</a:t>
            </a:r>
            <a:r>
              <a:rPr lang="en-US" sz="1800" dirty="0" err="1" smtClean="0"/>
              <a:t>MoM</a:t>
            </a:r>
            <a:r>
              <a:rPr lang="en-US" sz="1800" dirty="0"/>
              <a:t>) changes in this metric.</a:t>
            </a:r>
          </a:p>
          <a:p>
            <a:pPr fontAlgn="base"/>
            <a:r>
              <a:rPr lang="en-US" sz="1800" b="1" dirty="0"/>
              <a:t>Total Amount Received:</a:t>
            </a:r>
            <a:r>
              <a:rPr lang="en-US" sz="1800" dirty="0"/>
              <a:t> Tracking the total amount received from borrowers is essential for assessing the bank's cash flow and loan repayment. We should </a:t>
            </a:r>
            <a:r>
              <a:rPr lang="en-US" sz="1800" dirty="0" err="1"/>
              <a:t>analyse</a:t>
            </a:r>
            <a:r>
              <a:rPr lang="en-US" sz="1800" dirty="0"/>
              <a:t> the Month-to-Date (MTD) Total Amount Received and observe the Month-over-Month (</a:t>
            </a:r>
            <a:r>
              <a:rPr lang="en-US" sz="1800" dirty="0" err="1"/>
              <a:t>MoM</a:t>
            </a:r>
            <a:r>
              <a:rPr lang="en-US" sz="1800" dirty="0"/>
              <a:t>) changes.</a:t>
            </a:r>
          </a:p>
          <a:p>
            <a:pPr fontAlgn="base"/>
            <a:r>
              <a:rPr lang="en-US" sz="1800" b="1" dirty="0"/>
              <a:t>Average Interest Rate:</a:t>
            </a:r>
            <a:r>
              <a:rPr lang="en-US" sz="1800" dirty="0"/>
              <a:t> Calculating the average interest rate across all loans, MTD, and monitoring the Month-over-Month (</a:t>
            </a:r>
            <a:r>
              <a:rPr lang="en-US" sz="1800" dirty="0" err="1"/>
              <a:t>MoM</a:t>
            </a:r>
            <a:r>
              <a:rPr lang="en-US" sz="1800" dirty="0"/>
              <a:t>) variations in interest rates will provide insights into our lending portfolio's overall cost.</a:t>
            </a:r>
          </a:p>
          <a:p>
            <a:pPr fontAlgn="base"/>
            <a:r>
              <a:rPr lang="en-US" sz="1800" b="1" dirty="0"/>
              <a:t>Average Debt-to-Income Ratio (DTI):</a:t>
            </a:r>
            <a:r>
              <a:rPr lang="en-US" sz="1800" dirty="0"/>
              <a:t> Evaluating the average DTI for our borrowers helps us gauge their financial health. We need to compute the average DTI for all loans, MTD, and track Month-over-Month (</a:t>
            </a:r>
            <a:r>
              <a:rPr lang="en-US" sz="1800" dirty="0" err="1"/>
              <a:t>MoM</a:t>
            </a:r>
            <a:r>
              <a:rPr lang="en-US" sz="1800" dirty="0"/>
              <a:t>) fluctuations</a:t>
            </a:r>
          </a:p>
          <a:p>
            <a:pPr marL="13716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840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581400" cy="56356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Good Loan vs Bad Loan</a:t>
            </a:r>
            <a:endParaRPr lang="en-IN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71160"/>
          </a:xfrm>
        </p:spPr>
        <p:txBody>
          <a:bodyPr>
            <a:normAutofit/>
          </a:bodyPr>
          <a:lstStyle/>
          <a:p>
            <a:r>
              <a:rPr lang="en-US" sz="2600" b="1" dirty="0"/>
              <a:t>Good Loan KPIs</a:t>
            </a:r>
            <a:r>
              <a:rPr lang="en-US" b="1" dirty="0"/>
              <a:t>:</a:t>
            </a:r>
            <a:endParaRPr lang="en-US" dirty="0"/>
          </a:p>
          <a:p>
            <a:pPr fontAlgn="base"/>
            <a:r>
              <a:rPr lang="en-US" sz="2000" b="1" dirty="0"/>
              <a:t>Good Loan Application Percentage:</a:t>
            </a:r>
            <a:r>
              <a:rPr lang="en-US" sz="2000" dirty="0"/>
              <a:t> We need to calculate the percentage of loan applications classified as 'Good Loans.' This category includes loans with a loan status of 'Fully Paid' and 'Current.'</a:t>
            </a:r>
          </a:p>
          <a:p>
            <a:pPr fontAlgn="base"/>
            <a:r>
              <a:rPr lang="en-US" sz="2000" b="1" dirty="0"/>
              <a:t>Good Loan Applications:</a:t>
            </a:r>
            <a:r>
              <a:rPr lang="en-US" sz="2000" dirty="0"/>
              <a:t> Identifying the total number of loan applications falling under the 'Good Loan' category, which consists of loans with a loan status of 'Fully Paid' and 'Current.'</a:t>
            </a:r>
          </a:p>
          <a:p>
            <a:pPr fontAlgn="base"/>
            <a:r>
              <a:rPr lang="en-US" sz="2000" b="1" dirty="0"/>
              <a:t>Good Loan Funded Amount:</a:t>
            </a:r>
            <a:r>
              <a:rPr lang="en-US" sz="2000" dirty="0"/>
              <a:t> Determining the total amount of funds disbursed as 'Good Loans.' This includes the principal amounts of loans with a loan status of 'Fully Paid' and 'Current.</a:t>
            </a:r>
          </a:p>
          <a:p>
            <a:r>
              <a:rPr lang="en-US" sz="2000" b="1" dirty="0"/>
              <a:t>Good Loan Total Received Amount:</a:t>
            </a:r>
            <a:r>
              <a:rPr lang="en-US" sz="2000" dirty="0"/>
              <a:t> Tracking the total amount received from borrowers for 'Good Loans,' which encompasses all payments made on loans with a loan status of 'Fully Paid' and 'Current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0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Bad Loan KPIs:</a:t>
            </a:r>
            <a:endParaRPr lang="en-US" dirty="0"/>
          </a:p>
          <a:p>
            <a:pPr fontAlgn="base"/>
            <a:r>
              <a:rPr lang="en-US" sz="2300" b="1" dirty="0"/>
              <a:t>Bad Loan Application Percentage:</a:t>
            </a:r>
            <a:r>
              <a:rPr lang="en-US" sz="2300" dirty="0"/>
              <a:t> Calculating the percentage of loan applications categorized as 'Bad Loans.' This category specifically includes loans with a loan status of 'Charged Off.'</a:t>
            </a:r>
          </a:p>
          <a:p>
            <a:pPr fontAlgn="base"/>
            <a:r>
              <a:rPr lang="en-US" sz="2300" b="1" dirty="0"/>
              <a:t>Bad Loan Applications:</a:t>
            </a:r>
            <a:r>
              <a:rPr lang="en-US" sz="2300" dirty="0"/>
              <a:t> Identifying the total number of loan applications categorized as 'Bad Loans,' which consists of loans with a loan status of 'Charged Off.'</a:t>
            </a:r>
          </a:p>
          <a:p>
            <a:pPr fontAlgn="base"/>
            <a:r>
              <a:rPr lang="en-US" sz="2300" b="1" dirty="0"/>
              <a:t>Bad Loan Funded Amount:</a:t>
            </a:r>
            <a:r>
              <a:rPr lang="en-US" sz="2300" dirty="0"/>
              <a:t> Determining the total amount of funds disbursed as 'Bad Loans.' This comprises the principal amounts of loans with a loan status of 'Charged Off.'</a:t>
            </a:r>
          </a:p>
          <a:p>
            <a:pPr fontAlgn="base"/>
            <a:r>
              <a:rPr lang="en-US" sz="2300" b="1" dirty="0"/>
              <a:t>Bad Loan Total Received Amount:</a:t>
            </a:r>
            <a:r>
              <a:rPr lang="en-US" sz="2300" dirty="0"/>
              <a:t> Tracking the total amount received from borrowers for 'Bad Loans,' which includes all payments made on loans with a loan status of 'Charged Off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29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667000" cy="48736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FORMULAS</a:t>
            </a:r>
            <a:endParaRPr lang="en-IN" sz="1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65" y="688940"/>
            <a:ext cx="1651085" cy="67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90870"/>
            <a:ext cx="139065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3" y="2362200"/>
            <a:ext cx="4953000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5334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3" y="4724400"/>
            <a:ext cx="55181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661" y="609600"/>
            <a:ext cx="52070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3" y="5638800"/>
            <a:ext cx="444941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90870"/>
            <a:ext cx="4552950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85391"/>
            <a:ext cx="3257550" cy="1069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733" y="3657600"/>
            <a:ext cx="2874617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724400"/>
            <a:ext cx="27241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562600"/>
            <a:ext cx="379095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63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5410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56" y="1295400"/>
            <a:ext cx="6115364" cy="800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57" y="2209800"/>
            <a:ext cx="5599043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56" y="3048000"/>
            <a:ext cx="4406900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56" y="3810000"/>
            <a:ext cx="49212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54" y="4611757"/>
            <a:ext cx="4760843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54" y="5562600"/>
            <a:ext cx="36957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54" y="6324600"/>
            <a:ext cx="28797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904" y="331166"/>
            <a:ext cx="3173896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87393"/>
            <a:ext cx="2438400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09800"/>
            <a:ext cx="2971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3178175"/>
            <a:ext cx="35845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416" y="3894207"/>
            <a:ext cx="3561384" cy="83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042" y="4876662"/>
            <a:ext cx="3173758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2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231" y="5562600"/>
            <a:ext cx="197637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3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849" y="6289675"/>
            <a:ext cx="1936751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61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05600" cy="563562"/>
          </a:xfrm>
        </p:spPr>
        <p:txBody>
          <a:bodyPr>
            <a:normAutofit fontScale="90000"/>
          </a:bodyPr>
          <a:lstStyle/>
          <a:p>
            <a:r>
              <a:rPr lang="en-US" sz="1800" dirty="0" smtClean="0"/>
              <a:t>DATA CLEANING AND DATA ANALYSING USING PYTHON</a:t>
            </a:r>
            <a:endParaRPr lang="en-IN" sz="1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7848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79248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732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1"/>
            <a:ext cx="82296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82296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343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800" cy="56356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DASHBOARD EXCEL</a:t>
            </a:r>
            <a:endParaRPr lang="en-IN" sz="18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8201"/>
            <a:ext cx="87630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962400"/>
            <a:ext cx="87630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011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9067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7200"/>
            <a:ext cx="91440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177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038600" cy="411162"/>
          </a:xfrm>
        </p:spPr>
        <p:txBody>
          <a:bodyPr>
            <a:normAutofit fontScale="90000"/>
          </a:bodyPr>
          <a:lstStyle/>
          <a:p>
            <a:r>
              <a:rPr lang="en-US" sz="1800" dirty="0" smtClean="0"/>
              <a:t>DASHBOARD TABLEAU SUMMARY</a:t>
            </a:r>
            <a:endParaRPr lang="en-IN" sz="18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8392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962400"/>
            <a:ext cx="88392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87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038600" cy="563562"/>
          </a:xfrm>
        </p:spPr>
        <p:txBody>
          <a:bodyPr>
            <a:normAutofit fontScale="90000"/>
          </a:bodyPr>
          <a:lstStyle/>
          <a:p>
            <a:r>
              <a:rPr lang="en-US" sz="1800" dirty="0" smtClean="0"/>
              <a:t>DASHBOARD TABLEAU OVERVIEW</a:t>
            </a:r>
            <a:endParaRPr lang="en-IN" sz="1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8200"/>
            <a:ext cx="8915400" cy="304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962400"/>
            <a:ext cx="8991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857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756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728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385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110</TotalTime>
  <Words>566</Words>
  <Application>Microsoft Office PowerPoint</Application>
  <PresentationFormat>On-screen Show (4:3)</PresentationFormat>
  <Paragraphs>27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Apex</vt:lpstr>
      <vt:lpstr>BANK LOAN ANALYSIS</vt:lpstr>
      <vt:lpstr>DESCRIPTION </vt:lpstr>
      <vt:lpstr>Key Performance Indicators (KPIs) Requirements:</vt:lpstr>
      <vt:lpstr>Good Loan vs Bad Loan</vt:lpstr>
      <vt:lpstr>PowerPoint Presentation</vt:lpstr>
      <vt:lpstr>FORMULAS</vt:lpstr>
      <vt:lpstr>PowerPoint Presentation</vt:lpstr>
      <vt:lpstr>DATA CLEANING AND DATA ANALYSING USING PYTHON</vt:lpstr>
      <vt:lpstr>PowerPoint Presentation</vt:lpstr>
      <vt:lpstr>DASHBOARD EXCEL</vt:lpstr>
      <vt:lpstr>PowerPoint Presentation</vt:lpstr>
      <vt:lpstr>DASHBOARD TABLEAU SUMMARY</vt:lpstr>
      <vt:lpstr>DASHBOARD TABLEAU OVERVIEW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ALEEVA</dc:creator>
  <cp:lastModifiedBy>ALEEVA</cp:lastModifiedBy>
  <cp:revision>16</cp:revision>
  <dcterms:created xsi:type="dcterms:W3CDTF">2006-08-16T00:00:00Z</dcterms:created>
  <dcterms:modified xsi:type="dcterms:W3CDTF">2026-06-13T02:52:24Z</dcterms:modified>
</cp:coreProperties>
</file>